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handoutMasterIdLst>
    <p:handoutMasterId r:id="rId8"/>
  </p:handoutMasterIdLst>
  <p:sldIdLst>
    <p:sldId id="261" r:id="rId2"/>
    <p:sldId id="367" r:id="rId3"/>
    <p:sldId id="368" r:id="rId4"/>
    <p:sldId id="370" r:id="rId5"/>
    <p:sldId id="369"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6" autoAdjust="0"/>
    <p:restoredTop sz="94706" autoAdjust="0"/>
  </p:normalViewPr>
  <p:slideViewPr>
    <p:cSldViewPr>
      <p:cViewPr>
        <p:scale>
          <a:sx n="83" d="100"/>
          <a:sy n="83" d="100"/>
        </p:scale>
        <p:origin x="348" y="78"/>
      </p:cViewPr>
      <p:guideLst>
        <p:guide pos="3840"/>
        <p:guide orient="horz" pos="2160"/>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82" d="100"/>
          <a:sy n="82" d="100"/>
        </p:scale>
        <p:origin x="3852" y="78"/>
      </p:cViewPr>
      <p:guideLst/>
    </p:cSldViewPr>
  </p:notesViewPr>
  <p:gridSpacing cx="38100" cy="381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041DB8-B66F-4DC8-A96E-33677E0F90FF}" type="datetimeFigureOut">
              <a:rPr lang="en-US" smtClean="0"/>
              <a:t>2/23/2026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04A0D4-B89B-4ADD-AF9E-38636B40EE4E}" type="slidenum">
              <a:rPr lang="en-US" smtClean="0"/>
              <a:t>‹#›</a:t>
            </a:fld>
            <a:endParaRPr lang="en-US"/>
          </a:p>
        </p:txBody>
      </p:sp>
    </p:spTree>
    <p:extLst>
      <p:ext uri="{BB962C8B-B14F-4D97-AF65-F5344CB8AC3E}">
        <p14:creationId xmlns:p14="http://schemas.microsoft.com/office/powerpoint/2010/main" val="42473891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B49C4A-65AC-492D-9701-81B46C3AD0E4}" type="datetimeFigureOut">
              <a:rPr lang="en-US" smtClean="0"/>
              <a:t>2/23/2026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869989-EB00-4EE7-BCB5-25BDC5BB29F8}" type="slidenum">
              <a:rPr lang="en-US" smtClean="0"/>
              <a:t>‹#›</a:t>
            </a:fld>
            <a:endParaRPr lang="en-US"/>
          </a:p>
        </p:txBody>
      </p:sp>
    </p:spTree>
    <p:extLst>
      <p:ext uri="{BB962C8B-B14F-4D97-AF65-F5344CB8AC3E}">
        <p14:creationId xmlns:p14="http://schemas.microsoft.com/office/powerpoint/2010/main" val="2193636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5" name="Group 4"/>
          <p:cNvGrpSpPr/>
          <p:nvPr userDrawn="1"/>
        </p:nvGrpSpPr>
        <p:grpSpPr bwMode="hidden">
          <a:xfrm>
            <a:off x="-1" y="0"/>
            <a:ext cx="12192002" cy="6858000"/>
            <a:chOff x="-1" y="0"/>
            <a:chExt cx="12192002" cy="6858000"/>
          </a:xfrm>
        </p:grpSpPr>
        <p:cxnSp>
          <p:nvCxnSpPr>
            <p:cNvPr id="6" name="Straight Connector 5"/>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23" name="Group 22"/>
            <p:cNvGrpSpPr/>
            <p:nvPr userDrawn="1"/>
          </p:nvGrpSpPr>
          <p:grpSpPr bwMode="hidden">
            <a:xfrm>
              <a:off x="-1" y="0"/>
              <a:ext cx="12192001" cy="6858000"/>
              <a:chOff x="-1" y="0"/>
              <a:chExt cx="12192001" cy="6858000"/>
            </a:xfrm>
          </p:grpSpPr>
          <p:cxnSp>
            <p:nvCxnSpPr>
              <p:cNvPr id="41" name="Straight Connector 40"/>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6" name="Group 45"/>
              <p:cNvGrpSpPr/>
              <p:nvPr/>
            </p:nvGrpSpPr>
            <p:grpSpPr bwMode="hidden">
              <a:xfrm>
                <a:off x="6327885" y="0"/>
                <a:ext cx="5864115" cy="5898673"/>
                <a:chOff x="6327885" y="0"/>
                <a:chExt cx="5864115" cy="5898673"/>
              </a:xfrm>
            </p:grpSpPr>
            <p:cxnSp>
              <p:nvCxnSpPr>
                <p:cNvPr id="52" name="Straight Connector 51"/>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7" name="Straight Connector 46"/>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userDrawn="1"/>
          </p:nvGrpSpPr>
          <p:grpSpPr bwMode="hidden">
            <a:xfrm flipH="1">
              <a:off x="0" y="0"/>
              <a:ext cx="12192001" cy="6858000"/>
              <a:chOff x="-1" y="0"/>
              <a:chExt cx="12192001" cy="6858000"/>
            </a:xfrm>
          </p:grpSpPr>
          <p:cxnSp>
            <p:nvCxnSpPr>
              <p:cNvPr id="25" name="Straight Connector 24"/>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0" name="Group 29"/>
              <p:cNvGrpSpPr/>
              <p:nvPr/>
            </p:nvGrpSpPr>
            <p:grpSpPr bwMode="hidden">
              <a:xfrm>
                <a:off x="6327885" y="0"/>
                <a:ext cx="5864115" cy="5898673"/>
                <a:chOff x="6327885" y="0"/>
                <a:chExt cx="5864115" cy="5898673"/>
              </a:xfrm>
            </p:grpSpPr>
            <p:cxnSp>
              <p:nvCxnSpPr>
                <p:cNvPr id="36" name="Straight Connector 35"/>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31" name="Straight Connector 30"/>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ctrTitle"/>
          </p:nvPr>
        </p:nvSpPr>
        <p:spPr>
          <a:xfrm>
            <a:off x="1293845" y="1909346"/>
            <a:ext cx="9604310" cy="3383280"/>
          </a:xfrm>
        </p:spPr>
        <p:txBody>
          <a:bodyPr anchor="b">
            <a:normAutofit/>
          </a:bodyPr>
          <a:lstStyle>
            <a:lvl1pPr algn="l">
              <a:lnSpc>
                <a:spcPct val="76000"/>
              </a:lnSpc>
              <a:defRPr sz="8000" cap="none"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93845" y="5432564"/>
            <a:ext cx="9604310" cy="457200"/>
          </a:xfrm>
        </p:spPr>
        <p:txBody>
          <a:bodyPr>
            <a:normAutofit/>
          </a:bodyPr>
          <a:lstStyle>
            <a:lvl1pPr marL="0" indent="0" algn="l">
              <a:spcBef>
                <a:spcPts val="0"/>
              </a:spcBef>
              <a:buNone/>
              <a:defRPr sz="2000" b="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58" name="Straight Connector 57"/>
          <p:cNvCxnSpPr/>
          <p:nvPr userDrawn="1"/>
        </p:nvCxnSpPr>
        <p:spPr>
          <a:xfrm>
            <a:off x="1295400" y="5294175"/>
            <a:ext cx="96012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1"/>
          </a:xfrm>
        </p:spPr>
        <p:txBody>
          <a:bodyPr/>
          <a:lstStyle/>
          <a:p>
            <a:r>
              <a:rPr lang="en-US"/>
              <a:t>Click to edit Master title style</a:t>
            </a:r>
          </a:p>
        </p:txBody>
      </p:sp>
      <p:sp>
        <p:nvSpPr>
          <p:cNvPr id="3" name="Content Placeholder 2"/>
          <p:cNvSpPr>
            <a:spLocks noGrp="1"/>
          </p:cNvSpPr>
          <p:nvPr>
            <p:ph idx="1"/>
          </p:nvPr>
        </p:nvSpPr>
        <p:spPr>
          <a:xfrm>
            <a:off x="609600" y="1295400"/>
            <a:ext cx="10972800" cy="472439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AE374B5B-21A0-4192-BF4C-38187F1A68D8}" type="datetime1">
              <a:rPr lang="en-US" smtClean="0"/>
              <a:t>2/23/2026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flip="none" rotWithShape="1">
          <a:gsLst>
            <a:gs pos="0">
              <a:schemeClr val="accent1"/>
            </a:gs>
            <a:gs pos="97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7" name="Group 6"/>
          <p:cNvGrpSpPr/>
          <p:nvPr userDrawn="1"/>
        </p:nvGrpSpPr>
        <p:grpSpPr bwMode="hidden">
          <a:xfrm>
            <a:off x="-1" y="0"/>
            <a:ext cx="12192002" cy="6858000"/>
            <a:chOff x="-1" y="0"/>
            <a:chExt cx="12192002" cy="6858000"/>
          </a:xfrm>
        </p:grpSpPr>
        <p:cxnSp>
          <p:nvCxnSpPr>
            <p:cNvPr id="8" name="Straight Connector 7"/>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4" name="Group 23"/>
            <p:cNvGrpSpPr/>
            <p:nvPr userDrawn="1"/>
          </p:nvGrpSpPr>
          <p:grpSpPr bwMode="hidden">
            <a:xfrm>
              <a:off x="-1" y="0"/>
              <a:ext cx="12192001" cy="6858000"/>
              <a:chOff x="-1" y="0"/>
              <a:chExt cx="12192001" cy="6858000"/>
            </a:xfrm>
          </p:grpSpPr>
          <p:cxnSp>
            <p:nvCxnSpPr>
              <p:cNvPr id="42" name="Straight Connector 41"/>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7" name="Group 46"/>
              <p:cNvGrpSpPr/>
              <p:nvPr/>
            </p:nvGrpSpPr>
            <p:grpSpPr bwMode="hidden">
              <a:xfrm>
                <a:off x="6327885" y="0"/>
                <a:ext cx="5864115" cy="5898673"/>
                <a:chOff x="6327885" y="0"/>
                <a:chExt cx="5864115" cy="5898673"/>
              </a:xfrm>
            </p:grpSpPr>
            <p:cxnSp>
              <p:nvCxnSpPr>
                <p:cNvPr id="53" name="Straight Connector 52"/>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8" name="Straight Connector 47"/>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5" name="Group 24"/>
            <p:cNvGrpSpPr/>
            <p:nvPr userDrawn="1"/>
          </p:nvGrpSpPr>
          <p:grpSpPr bwMode="hidden">
            <a:xfrm flipH="1">
              <a:off x="0" y="0"/>
              <a:ext cx="12192001" cy="6858000"/>
              <a:chOff x="-1" y="0"/>
              <a:chExt cx="12192001" cy="6858000"/>
            </a:xfrm>
          </p:grpSpPr>
          <p:cxnSp>
            <p:nvCxnSpPr>
              <p:cNvPr id="26" name="Straight Connector 25"/>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1" name="Group 30"/>
              <p:cNvGrpSpPr/>
              <p:nvPr/>
            </p:nvGrpSpPr>
            <p:grpSpPr bwMode="hidden">
              <a:xfrm>
                <a:off x="6327885" y="0"/>
                <a:ext cx="5864115" cy="5898673"/>
                <a:chOff x="6327885" y="0"/>
                <a:chExt cx="5864115" cy="5898673"/>
              </a:xfrm>
            </p:grpSpPr>
            <p:cxnSp>
              <p:nvCxnSpPr>
                <p:cNvPr id="37" name="Straight Connector 36"/>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2" name="Straight Connector 31"/>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title"/>
          </p:nvPr>
        </p:nvSpPr>
        <p:spPr>
          <a:xfrm>
            <a:off x="1295400" y="2541573"/>
            <a:ext cx="9601200" cy="2743200"/>
          </a:xfrm>
        </p:spPr>
        <p:txBody>
          <a:bodyPr anchor="b">
            <a:normAutofit/>
          </a:bodyPr>
          <a:lstStyle>
            <a:lvl1pPr>
              <a:lnSpc>
                <a:spcPct val="85000"/>
              </a:lnSpc>
              <a:defRPr sz="6000" cap="none"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1295400" y="5431536"/>
            <a:ext cx="9601200" cy="457200"/>
          </a:xfrm>
        </p:spPr>
        <p:txBody>
          <a:bodyPr>
            <a:normAutofit/>
          </a:bodyPr>
          <a:lstStyle>
            <a:lvl1pPr marL="0" indent="0">
              <a:spcBef>
                <a:spcPts val="0"/>
              </a:spcBef>
              <a:buNone/>
              <a:defRPr sz="2000" b="0">
                <a:solidFill>
                  <a:schemeClr val="tx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cxnSp>
        <p:nvCxnSpPr>
          <p:cNvPr id="58" name="Straight Connector 57"/>
          <p:cNvCxnSpPr/>
          <p:nvPr userDrawn="1"/>
        </p:nvCxnSpPr>
        <p:spPr>
          <a:xfrm>
            <a:off x="1295400" y="5294175"/>
            <a:ext cx="9601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7780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954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246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33B5CF7C-B333-48E1-A4A6-83A3C8B73AC0}" type="datetime1">
              <a:rPr lang="en-US" smtClean="0"/>
              <a:t>2/23/2026</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2954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246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246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AE320762-5CBF-4210-AB54-376B091119F8}" type="datetime1">
              <a:rPr lang="en-US" smtClean="0"/>
              <a:t>2/23/2026</a:t>
            </a:fld>
            <a:endParaRPr lang="en-US"/>
          </a:p>
        </p:txBody>
      </p:sp>
      <p:sp>
        <p:nvSpPr>
          <p:cNvPr id="9" name="Slide Number Placeholder 8"/>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7F0DB371-BF5F-4058-A212-1A908E4D2674}" type="datetime1">
              <a:rPr lang="en-US" smtClean="0"/>
              <a:t>2/23/2026</a:t>
            </a:fld>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161" name="Group 160"/>
          <p:cNvGrpSpPr/>
          <p:nvPr userDrawn="1"/>
        </p:nvGrpSpPr>
        <p:grpSpPr bwMode="hidden">
          <a:xfrm>
            <a:off x="-1" y="0"/>
            <a:ext cx="12192002" cy="6858000"/>
            <a:chOff x="-1" y="0"/>
            <a:chExt cx="12192002" cy="6858000"/>
          </a:xfrm>
        </p:grpSpPr>
        <p:cxnSp>
          <p:nvCxnSpPr>
            <p:cNvPr id="162" name="Straight Connector 161"/>
            <p:cNvCxnSpPr/>
            <p:nvPr/>
          </p:nvCxnSpPr>
          <p:spPr bwMode="hidden">
            <a:xfrm>
              <a:off x="61019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bwMode="hidden">
            <a:xfrm>
              <a:off x="182933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bwMode="hidden">
            <a:xfrm>
              <a:off x="304847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bwMode="hidden">
            <a:xfrm>
              <a:off x="426760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bwMode="hidden">
            <a:xfrm>
              <a:off x="548674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bwMode="hidden">
            <a:xfrm>
              <a:off x="670588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p:cNvCxnSpPr/>
            <p:nvPr/>
          </p:nvCxnSpPr>
          <p:spPr bwMode="hidden">
            <a:xfrm>
              <a:off x="792502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bwMode="hidden">
            <a:xfrm>
              <a:off x="914416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p:cNvCxnSpPr/>
            <p:nvPr/>
          </p:nvCxnSpPr>
          <p:spPr bwMode="hidden">
            <a:xfrm>
              <a:off x="1036329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bwMode="hidden">
            <a:xfrm>
              <a:off x="1158243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bwMode="hidden">
            <a:xfrm>
              <a:off x="2819" y="38648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bwMode="hidden">
            <a:xfrm>
              <a:off x="2819" y="1611181"/>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bwMode="hidden">
            <a:xfrm>
              <a:off x="2819" y="2835877"/>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bwMode="hidden">
            <a:xfrm>
              <a:off x="2819" y="4060573"/>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bwMode="hidden">
            <a:xfrm>
              <a:off x="2819" y="5285269"/>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bwMode="hidden">
            <a:xfrm>
              <a:off x="2819" y="650996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78" name="Group 177"/>
            <p:cNvGrpSpPr/>
            <p:nvPr userDrawn="1"/>
          </p:nvGrpSpPr>
          <p:grpSpPr bwMode="hidden">
            <a:xfrm>
              <a:off x="-1" y="0"/>
              <a:ext cx="12192001" cy="6858000"/>
              <a:chOff x="-1" y="0"/>
              <a:chExt cx="12192001" cy="6858000"/>
            </a:xfrm>
          </p:grpSpPr>
          <p:cxnSp>
            <p:nvCxnSpPr>
              <p:cNvPr id="196" name="Straight Connector 195"/>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201" name="Group 200"/>
              <p:cNvGrpSpPr/>
              <p:nvPr/>
            </p:nvGrpSpPr>
            <p:grpSpPr bwMode="hidden">
              <a:xfrm>
                <a:off x="6327885" y="0"/>
                <a:ext cx="5864115" cy="5898673"/>
                <a:chOff x="6327885" y="0"/>
                <a:chExt cx="5864115" cy="5898673"/>
              </a:xfrm>
            </p:grpSpPr>
            <p:cxnSp>
              <p:nvCxnSpPr>
                <p:cNvPr id="207" name="Straight Connector 206"/>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202" name="Straight Connector 201"/>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nvGrpSpPr>
            <p:cNvPr id="179" name="Group 178"/>
            <p:cNvGrpSpPr/>
            <p:nvPr userDrawn="1"/>
          </p:nvGrpSpPr>
          <p:grpSpPr bwMode="hidden">
            <a:xfrm flipH="1">
              <a:off x="0" y="0"/>
              <a:ext cx="12192001" cy="6858000"/>
              <a:chOff x="-1" y="0"/>
              <a:chExt cx="12192001" cy="6858000"/>
            </a:xfrm>
          </p:grpSpPr>
          <p:cxnSp>
            <p:nvCxnSpPr>
              <p:cNvPr id="180" name="Straight Connector 179"/>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85" name="Group 184"/>
              <p:cNvGrpSpPr/>
              <p:nvPr/>
            </p:nvGrpSpPr>
            <p:grpSpPr bwMode="hidden">
              <a:xfrm>
                <a:off x="6327885" y="0"/>
                <a:ext cx="5864115" cy="5898673"/>
                <a:chOff x="6327885" y="0"/>
                <a:chExt cx="5864115" cy="5898673"/>
              </a:xfrm>
            </p:grpSpPr>
            <p:cxnSp>
              <p:nvCxnSpPr>
                <p:cNvPr id="191" name="Straight Connector 190"/>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186" name="Straight Connector 185"/>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sp>
        <p:nvSpPr>
          <p:cNvPr id="213" name="Footer Placeholder 212"/>
          <p:cNvSpPr>
            <a:spLocks noGrp="1"/>
          </p:cNvSpPr>
          <p:nvPr>
            <p:ph type="ftr" sz="quarter" idx="11"/>
          </p:nvPr>
        </p:nvSpPr>
        <p:spPr/>
        <p:txBody>
          <a:bodyPr/>
          <a:lstStyle/>
          <a:p>
            <a:r>
              <a:rPr lang="en-US" dirty="0"/>
              <a:t>Add a footer</a:t>
            </a:r>
          </a:p>
        </p:txBody>
      </p:sp>
      <p:sp>
        <p:nvSpPr>
          <p:cNvPr id="212" name="Date Placeholder 211"/>
          <p:cNvSpPr>
            <a:spLocks noGrp="1"/>
          </p:cNvSpPr>
          <p:nvPr>
            <p:ph type="dt" sz="half" idx="10"/>
          </p:nvPr>
        </p:nvSpPr>
        <p:spPr/>
        <p:txBody>
          <a:bodyPr/>
          <a:lstStyle/>
          <a:p>
            <a:fld id="{60A4083B-90AA-48CF-BAD5-00AA24D7F288}" type="datetime1">
              <a:rPr lang="en-US" smtClean="0"/>
              <a:t>2/23/2026</a:t>
            </a:fld>
            <a:endParaRPr lang="en-US"/>
          </a:p>
        </p:txBody>
      </p:sp>
      <p:sp>
        <p:nvSpPr>
          <p:cNvPr id="214" name="Slide Number Placeholder 213"/>
          <p:cNvSpPr>
            <a:spLocks noGrp="1"/>
          </p:cNvSpPr>
          <p:nvPr>
            <p:ph type="sldNum" sz="quarter" idx="12"/>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Group 8"/>
          <p:cNvGrpSpPr/>
          <p:nvPr userDrawn="1"/>
        </p:nvGrpSpPr>
        <p:grpSpPr bwMode="hidden">
          <a:xfrm>
            <a:off x="-1" y="0"/>
            <a:ext cx="12192002" cy="6858000"/>
            <a:chOff x="-1" y="0"/>
            <a:chExt cx="12192002" cy="6858000"/>
          </a:xfrm>
        </p:grpSpPr>
        <p:cxnSp>
          <p:nvCxnSpPr>
            <p:cNvPr id="10" name="Straight Connector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Group 25"/>
            <p:cNvGrpSpPr/>
            <p:nvPr userDrawn="1"/>
          </p:nvGrpSpPr>
          <p:grpSpPr bwMode="hidden">
            <a:xfrm>
              <a:off x="-1" y="0"/>
              <a:ext cx="12192001" cy="6858000"/>
              <a:chOff x="-1" y="0"/>
              <a:chExt cx="12192001" cy="6858000"/>
            </a:xfrm>
          </p:grpSpPr>
          <p:cxnSp>
            <p:nvCxnSpPr>
              <p:cNvPr id="44" name="Straight Connector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Group 48"/>
              <p:cNvGrpSpPr/>
              <p:nvPr/>
            </p:nvGrpSpPr>
            <p:grpSpPr bwMode="hidden">
              <a:xfrm>
                <a:off x="6327885" y="0"/>
                <a:ext cx="5864115" cy="5898673"/>
                <a:chOff x="6327885" y="0"/>
                <a:chExt cx="5864115" cy="5898673"/>
              </a:xfrm>
            </p:grpSpPr>
            <p:cxnSp>
              <p:nvCxnSpPr>
                <p:cNvPr id="55" name="Straight Connector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Straight Connector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Group 26"/>
            <p:cNvGrpSpPr/>
            <p:nvPr userDrawn="1"/>
          </p:nvGrpSpPr>
          <p:grpSpPr bwMode="hidden">
            <a:xfrm flipH="1">
              <a:off x="0" y="0"/>
              <a:ext cx="12192001" cy="6858000"/>
              <a:chOff x="-1" y="0"/>
              <a:chExt cx="12192001" cy="6858000"/>
            </a:xfrm>
          </p:grpSpPr>
          <p:cxnSp>
            <p:nvCxnSpPr>
              <p:cNvPr id="28" name="Straight Connector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Group 32"/>
              <p:cNvGrpSpPr/>
              <p:nvPr/>
            </p:nvGrpSpPr>
            <p:grpSpPr bwMode="hidden">
              <a:xfrm>
                <a:off x="6327885" y="0"/>
                <a:ext cx="5864115" cy="5898673"/>
                <a:chOff x="6327885" y="0"/>
                <a:chExt cx="5864115" cy="5898673"/>
              </a:xfrm>
            </p:grpSpPr>
            <p:cxnSp>
              <p:nvCxnSpPr>
                <p:cNvPr id="39" name="Straight Connector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Straight Connector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Rectangle 6"/>
          <p:cNvSpPr/>
          <p:nvPr userDrawn="1"/>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13152" y="571500"/>
            <a:ext cx="3657600" cy="2197100"/>
          </a:xfrm>
        </p:spPr>
        <p:txBody>
          <a:bodyPr anchor="b">
            <a:normAutofit/>
          </a:bodyPr>
          <a:lstStyle>
            <a:lvl1pPr>
              <a:defRPr sz="26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43197" y="571500"/>
            <a:ext cx="6217920" cy="571500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913152" y="2995012"/>
            <a:ext cx="3657600" cy="2285950"/>
          </a:xfrm>
        </p:spPr>
        <p:txBody>
          <a:bodyPr>
            <a:normAutofit/>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cxnSp>
        <p:nvCxnSpPr>
          <p:cNvPr id="60" name="Straight Connector 59"/>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lvl1pPr>
              <a:defRPr>
                <a:solidFill>
                  <a:schemeClr val="bg1"/>
                </a:solidFill>
              </a:defRPr>
            </a:lvl1pPr>
          </a:lstStyle>
          <a:p>
            <a:fld id="{F5BAF629-ECA2-4CF3-B790-9D9BDED98269}" type="datetime1">
              <a:rPr lang="en-US" smtClean="0"/>
              <a:pPr/>
              <a:t>2/23/2026</a:t>
            </a:fld>
            <a:endParaRPr lang="en-US"/>
          </a:p>
        </p:txBody>
      </p:sp>
      <p:sp>
        <p:nvSpPr>
          <p:cNvPr id="8" name="Slide Number Placeholder 7"/>
          <p:cNvSpPr>
            <a:spLocks noGrp="1"/>
          </p:cNvSpPr>
          <p:nvPr>
            <p:ph type="sldNum" sz="quarter" idx="12"/>
          </p:nvPr>
        </p:nvSpPr>
        <p:spPr/>
        <p:txBody>
          <a:bodyPr/>
          <a:lstStyle>
            <a:lvl1pPr>
              <a:defRPr>
                <a:solidFill>
                  <a:schemeClr val="bg1"/>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8" name="Group 7"/>
          <p:cNvGrpSpPr/>
          <p:nvPr/>
        </p:nvGrpSpPr>
        <p:grpSpPr bwMode="hidden">
          <a:xfrm>
            <a:off x="-1" y="0"/>
            <a:ext cx="12192002" cy="6858000"/>
            <a:chOff x="-1" y="0"/>
            <a:chExt cx="12192002" cy="6858000"/>
          </a:xfrm>
        </p:grpSpPr>
        <p:cxnSp>
          <p:nvCxnSpPr>
            <p:cNvPr id="9" name="Straight Connector 8"/>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5" name="Group 24"/>
            <p:cNvGrpSpPr/>
            <p:nvPr/>
          </p:nvGrpSpPr>
          <p:grpSpPr bwMode="hidden">
            <a:xfrm>
              <a:off x="-1" y="0"/>
              <a:ext cx="12192001" cy="6858000"/>
              <a:chOff x="-1" y="0"/>
              <a:chExt cx="12192001" cy="6858000"/>
            </a:xfrm>
          </p:grpSpPr>
          <p:cxnSp>
            <p:nvCxnSpPr>
              <p:cNvPr id="43" name="Straight Connector 42"/>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8" name="Group 47"/>
              <p:cNvGrpSpPr/>
              <p:nvPr/>
            </p:nvGrpSpPr>
            <p:grpSpPr bwMode="hidden">
              <a:xfrm>
                <a:off x="6327885" y="0"/>
                <a:ext cx="5864115" cy="5898673"/>
                <a:chOff x="6327885" y="0"/>
                <a:chExt cx="5864115" cy="5898673"/>
              </a:xfrm>
            </p:grpSpPr>
            <p:cxnSp>
              <p:nvCxnSpPr>
                <p:cNvPr id="54" name="Straight Connector 53"/>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9" name="Straight Connector 48"/>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bwMode="hidden">
            <a:xfrm flipH="1">
              <a:off x="0" y="0"/>
              <a:ext cx="12192001" cy="6858000"/>
              <a:chOff x="-1" y="0"/>
              <a:chExt cx="12192001" cy="6858000"/>
            </a:xfrm>
          </p:grpSpPr>
          <p:cxnSp>
            <p:nvCxnSpPr>
              <p:cNvPr id="27" name="Straight Connector 26"/>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2" name="Group 31"/>
              <p:cNvGrpSpPr/>
              <p:nvPr/>
            </p:nvGrpSpPr>
            <p:grpSpPr bwMode="hidden">
              <a:xfrm>
                <a:off x="6327885" y="0"/>
                <a:ext cx="5864115" cy="5898673"/>
                <a:chOff x="6327885" y="0"/>
                <a:chExt cx="5864115" cy="5898673"/>
              </a:xfrm>
            </p:grpSpPr>
            <p:cxnSp>
              <p:nvCxnSpPr>
                <p:cNvPr id="38" name="Straight Connector 37"/>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3" name="Straight Connector 32"/>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60" name="Rectangle 59"/>
          <p:cNvSpPr/>
          <p:nvPr/>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7909560" y="576072"/>
            <a:ext cx="3657600" cy="2194560"/>
          </a:xfrm>
        </p:spPr>
        <p:txBody>
          <a:bodyPr anchor="b">
            <a:normAutofit/>
          </a:bodyPr>
          <a:lstStyle>
            <a:lvl1pPr>
              <a:defRPr sz="2600">
                <a:solidFill>
                  <a:schemeClr val="bg1"/>
                </a:solidFill>
              </a:defRPr>
            </a:lvl1pPr>
          </a:lstStyle>
          <a:p>
            <a:r>
              <a:rPr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4412" y="-159"/>
            <a:ext cx="7315200" cy="6858000"/>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909560" y="2999232"/>
            <a:ext cx="3657600" cy="2286000"/>
          </a:xfrm>
        </p:spPr>
        <p:txBody>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620318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384A29A4-78C8-47AB-BA06-22CB45938951}" type="datetime1">
              <a:rPr lang="en-US" smtClean="0"/>
              <a:t>2/23/2026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09314" y="489856"/>
            <a:ext cx="1687286" cy="530134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9" y="489856"/>
            <a:ext cx="7587344" cy="5301343"/>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1ED4ACF-2D82-46F2-A8E9-23963AA34E86}" type="datetime1">
              <a:rPr lang="en-US" smtClean="0"/>
              <a:t>2/23/2026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grpSp>
        <p:nvGrpSpPr>
          <p:cNvPr id="96" name="Group 95"/>
          <p:cNvGrpSpPr/>
          <p:nvPr userDrawn="1"/>
        </p:nvGrpSpPr>
        <p:grpSpPr bwMode="hidden">
          <a:xfrm>
            <a:off x="-1" y="-195943"/>
            <a:ext cx="12192002" cy="6858000"/>
            <a:chOff x="-1" y="0"/>
            <a:chExt cx="12192002" cy="6858000"/>
          </a:xfrm>
        </p:grpSpPr>
        <p:cxnSp>
          <p:nvCxnSpPr>
            <p:cNvPr id="97" name="Straight Connector 96"/>
            <p:cNvCxnSpPr/>
            <p:nvPr/>
          </p:nvCxnSpPr>
          <p:spPr bwMode="hidden">
            <a:xfrm>
              <a:off x="61019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bwMode="hidden">
            <a:xfrm>
              <a:off x="182933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bwMode="hidden">
            <a:xfrm>
              <a:off x="304847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bwMode="hidden">
            <a:xfrm>
              <a:off x="426760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bwMode="hidden">
            <a:xfrm>
              <a:off x="548674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bwMode="hidden">
            <a:xfrm>
              <a:off x="670588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bwMode="hidden">
            <a:xfrm>
              <a:off x="792502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bwMode="hidden">
            <a:xfrm>
              <a:off x="914416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bwMode="hidden">
            <a:xfrm>
              <a:off x="1036329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bwMode="hidden">
            <a:xfrm>
              <a:off x="1158243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bwMode="hidden">
            <a:xfrm>
              <a:off x="2819" y="38648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bwMode="hidden">
            <a:xfrm>
              <a:off x="2819" y="1611181"/>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bwMode="hidden">
            <a:xfrm>
              <a:off x="2819" y="2835877"/>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bwMode="hidden">
            <a:xfrm>
              <a:off x="2819" y="4060573"/>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bwMode="hidden">
            <a:xfrm>
              <a:off x="2819" y="5285269"/>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bwMode="hidden">
            <a:xfrm>
              <a:off x="2819" y="650996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13" name="Group 112"/>
            <p:cNvGrpSpPr/>
            <p:nvPr userDrawn="1"/>
          </p:nvGrpSpPr>
          <p:grpSpPr bwMode="hidden">
            <a:xfrm>
              <a:off x="-1" y="0"/>
              <a:ext cx="12192001" cy="6858000"/>
              <a:chOff x="-1" y="0"/>
              <a:chExt cx="12192001" cy="6858000"/>
            </a:xfrm>
          </p:grpSpPr>
          <p:cxnSp>
            <p:nvCxnSpPr>
              <p:cNvPr id="131" name="Straight Connector 130"/>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36" name="Group 135"/>
              <p:cNvGrpSpPr/>
              <p:nvPr/>
            </p:nvGrpSpPr>
            <p:grpSpPr bwMode="hidden">
              <a:xfrm>
                <a:off x="6327885" y="0"/>
                <a:ext cx="5864115" cy="5898673"/>
                <a:chOff x="6327885" y="0"/>
                <a:chExt cx="5864115" cy="5898673"/>
              </a:xfrm>
            </p:grpSpPr>
            <p:cxnSp>
              <p:nvCxnSpPr>
                <p:cNvPr id="142" name="Straight Connector 141"/>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37" name="Straight Connector 136"/>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114" name="Group 113"/>
            <p:cNvGrpSpPr/>
            <p:nvPr userDrawn="1"/>
          </p:nvGrpSpPr>
          <p:grpSpPr bwMode="hidden">
            <a:xfrm flipH="1">
              <a:off x="0" y="0"/>
              <a:ext cx="12192001" cy="6858000"/>
              <a:chOff x="-1" y="0"/>
              <a:chExt cx="12192001" cy="6858000"/>
            </a:xfrm>
          </p:grpSpPr>
          <p:cxnSp>
            <p:nvCxnSpPr>
              <p:cNvPr id="115" name="Straight Connector 114"/>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20" name="Group 119"/>
              <p:cNvGrpSpPr/>
              <p:nvPr/>
            </p:nvGrpSpPr>
            <p:grpSpPr bwMode="hidden">
              <a:xfrm>
                <a:off x="6327885" y="0"/>
                <a:ext cx="5864115" cy="5898673"/>
                <a:chOff x="6327885" y="0"/>
                <a:chExt cx="5864115" cy="5898673"/>
              </a:xfrm>
            </p:grpSpPr>
            <p:cxnSp>
              <p:nvCxnSpPr>
                <p:cNvPr id="126" name="Straight Connector 125"/>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21" name="Straight Connector 120"/>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Placeholder 1"/>
          <p:cNvSpPr>
            <a:spLocks noGrp="1"/>
          </p:cNvSpPr>
          <p:nvPr>
            <p:ph type="title"/>
          </p:nvPr>
        </p:nvSpPr>
        <p:spPr>
          <a:xfrm>
            <a:off x="1295400" y="503853"/>
            <a:ext cx="9601200" cy="114238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95400" y="1981201"/>
            <a:ext cx="9601200" cy="3809999"/>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48" name="Straight Connector 147"/>
          <p:cNvCxnSpPr/>
          <p:nvPr userDrawn="1"/>
        </p:nvCxnSpPr>
        <p:spPr>
          <a:xfrm>
            <a:off x="609600" y="6172200"/>
            <a:ext cx="10972800"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p:cNvSpPr>
            <a:spLocks noGrp="1"/>
          </p:cNvSpPr>
          <p:nvPr>
            <p:ph type="ftr" sz="quarter" idx="3"/>
          </p:nvPr>
        </p:nvSpPr>
        <p:spPr>
          <a:xfrm>
            <a:off x="609601" y="6289679"/>
            <a:ext cx="6128030" cy="222436"/>
          </a:xfrm>
          <a:prstGeom prst="rect">
            <a:avLst/>
          </a:prstGeom>
        </p:spPr>
        <p:txBody>
          <a:bodyPr vert="horz" lIns="91440" tIns="45720" rIns="91440" bIns="45720" rtlCol="0" anchor="ctr"/>
          <a:lstStyle>
            <a:lvl1pPr algn="l">
              <a:defRPr sz="1100">
                <a:solidFill>
                  <a:schemeClr val="tx1">
                    <a:lumMod val="90000"/>
                    <a:lumOff val="10000"/>
                  </a:schemeClr>
                </a:solidFill>
              </a:defRPr>
            </a:lvl1pPr>
          </a:lstStyle>
          <a:p>
            <a:r>
              <a:rPr lang="en-US" dirty="0"/>
              <a:t>Add a footer</a:t>
            </a:r>
          </a:p>
        </p:txBody>
      </p:sp>
      <p:sp>
        <p:nvSpPr>
          <p:cNvPr id="4" name="Date Placeholder 3"/>
          <p:cNvSpPr>
            <a:spLocks noGrp="1"/>
          </p:cNvSpPr>
          <p:nvPr>
            <p:ph type="dt" sz="half" idx="2"/>
          </p:nvPr>
        </p:nvSpPr>
        <p:spPr>
          <a:xfrm>
            <a:off x="9294042" y="6289679"/>
            <a:ext cx="965946"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B51B2453-8663-4C69-AF73-9FD7B1DEC5D0}" type="datetime1">
              <a:rPr lang="en-US" smtClean="0"/>
              <a:pPr/>
              <a:t>2/23/2026</a:t>
            </a:fld>
            <a:endParaRPr lang="en-US" dirty="0"/>
          </a:p>
        </p:txBody>
      </p:sp>
      <p:sp>
        <p:nvSpPr>
          <p:cNvPr id="6" name="Slide Number Placeholder 5"/>
          <p:cNvSpPr>
            <a:spLocks noGrp="1"/>
          </p:cNvSpPr>
          <p:nvPr>
            <p:ph type="sldNum" sz="quarter" idx="4"/>
          </p:nvPr>
        </p:nvSpPr>
        <p:spPr>
          <a:xfrm>
            <a:off x="10665311" y="6289679"/>
            <a:ext cx="918882"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E31375A4-56A4-47D6-9801-1991572033F7}" type="slidenum">
              <a:rPr lang="en-US" smtClean="0"/>
              <a:pPr/>
              <a:t>‹#›</a:t>
            </a:fld>
            <a:endParaRPr lang="en-US" dirty="0"/>
          </a:p>
        </p:txBody>
      </p: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9"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hackster.io/eg38/pocketbeagle-guitar-tuner-ad6d32"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adafruit.com/product/181" TargetMode="External"/><Relationship Id="rId2" Type="http://schemas.openxmlformats.org/officeDocument/2006/relationships/hyperlink" Target="https://www.digikey.com/en/products/detail/adafruit-industries-llc/3421/6691114"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93844" y="1909346"/>
            <a:ext cx="9907555" cy="3383280"/>
          </a:xfrm>
        </p:spPr>
        <p:txBody>
          <a:bodyPr>
            <a:normAutofit/>
          </a:bodyPr>
          <a:lstStyle/>
          <a:p>
            <a:r>
              <a:rPr lang="en-US" sz="6000" dirty="0"/>
              <a:t>EDES 301</a:t>
            </a:r>
            <a:br>
              <a:rPr lang="en-US" sz="6000" dirty="0"/>
            </a:br>
            <a:br>
              <a:rPr lang="en-US" dirty="0"/>
            </a:br>
            <a:r>
              <a:rPr lang="en-US" sz="6000" dirty="0"/>
              <a:t>&lt;Epic Audio Analyzer&gt; Proposal</a:t>
            </a:r>
            <a:endParaRPr lang="en-US" dirty="0"/>
          </a:p>
        </p:txBody>
      </p:sp>
      <p:sp>
        <p:nvSpPr>
          <p:cNvPr id="3" name="Subtitle 2"/>
          <p:cNvSpPr>
            <a:spLocks noGrp="1"/>
          </p:cNvSpPr>
          <p:nvPr>
            <p:ph type="subTitle" idx="1"/>
          </p:nvPr>
        </p:nvSpPr>
        <p:spPr>
          <a:xfrm>
            <a:off x="1293845" y="5432564"/>
            <a:ext cx="9604310" cy="1120636"/>
          </a:xfrm>
        </p:spPr>
        <p:txBody>
          <a:bodyPr/>
          <a:lstStyle/>
          <a:p>
            <a:r>
              <a:rPr lang="en-US" dirty="0"/>
              <a:t>&lt;2/23/2026&gt;</a:t>
            </a:r>
          </a:p>
          <a:p>
            <a:r>
              <a:rPr lang="en-US" dirty="0"/>
              <a:t>&lt;Nicholas Melendez&gt;</a:t>
            </a:r>
          </a:p>
        </p:txBody>
      </p:sp>
    </p:spTree>
    <p:extLst>
      <p:ext uri="{BB962C8B-B14F-4D97-AF65-F5344CB8AC3E}">
        <p14:creationId xmlns:p14="http://schemas.microsoft.com/office/powerpoint/2010/main" val="106904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39A49-57C9-4BE3-8B38-E944EB81906A}"/>
              </a:ext>
            </a:extLst>
          </p:cNvPr>
          <p:cNvSpPr>
            <a:spLocks noGrp="1"/>
          </p:cNvSpPr>
          <p:nvPr>
            <p:ph type="title"/>
          </p:nvPr>
        </p:nvSpPr>
        <p:spPr/>
        <p:txBody>
          <a:bodyPr/>
          <a:lstStyle/>
          <a:p>
            <a:r>
              <a:rPr lang="en-US" dirty="0"/>
              <a:t>Background Information</a:t>
            </a:r>
          </a:p>
        </p:txBody>
      </p:sp>
      <p:sp>
        <p:nvSpPr>
          <p:cNvPr id="3" name="Content Placeholder 2">
            <a:extLst>
              <a:ext uri="{FF2B5EF4-FFF2-40B4-BE49-F238E27FC236}">
                <a16:creationId xmlns:a16="http://schemas.microsoft.com/office/drawing/2014/main" id="{8ED8AE04-697D-4784-A672-E28DA6A47AB6}"/>
              </a:ext>
            </a:extLst>
          </p:cNvPr>
          <p:cNvSpPr>
            <a:spLocks noGrp="1"/>
          </p:cNvSpPr>
          <p:nvPr>
            <p:ph idx="1"/>
          </p:nvPr>
        </p:nvSpPr>
        <p:spPr/>
        <p:txBody>
          <a:bodyPr/>
          <a:lstStyle/>
          <a:p>
            <a:r>
              <a:rPr lang="en-US" dirty="0"/>
              <a:t>My goal is to create an embedded system which can listen to audio, analyze it, and output the general pitch of the sound, along with its frequency, and if the note is in tune or not, through display. </a:t>
            </a:r>
          </a:p>
          <a:p>
            <a:endParaRPr lang="en-US" dirty="0"/>
          </a:p>
          <a:p>
            <a:pPr marL="0" indent="0">
              <a:buNone/>
            </a:pPr>
            <a:r>
              <a:rPr lang="en-US" dirty="0"/>
              <a:t>My Idea came from this project:</a:t>
            </a:r>
          </a:p>
          <a:p>
            <a:pPr marL="0" indent="0">
              <a:buNone/>
            </a:pPr>
            <a:r>
              <a:rPr lang="sv-SE" dirty="0">
                <a:hlinkClick r:id="rId2"/>
              </a:rPr>
              <a:t>PocketBeagle Guitar Tuner - Hackster.io</a:t>
            </a:r>
            <a:r>
              <a:rPr lang="sv-SE" dirty="0"/>
              <a:t> The project is a guitar tunner which is able to listen to notes and determine if the guitar is in tune or not. I though I could make something similar but apply it to many sounds and not just guitar</a:t>
            </a:r>
            <a:endParaRPr lang="en-US" dirty="0"/>
          </a:p>
        </p:txBody>
      </p:sp>
      <p:sp>
        <p:nvSpPr>
          <p:cNvPr id="4" name="TextBox 3">
            <a:extLst>
              <a:ext uri="{FF2B5EF4-FFF2-40B4-BE49-F238E27FC236}">
                <a16:creationId xmlns:a16="http://schemas.microsoft.com/office/drawing/2014/main" id="{0DA883D3-D6A1-40F0-B5FE-3E351ADB0E38}"/>
              </a:ext>
            </a:extLst>
          </p:cNvPr>
          <p:cNvSpPr txBox="1"/>
          <p:nvPr/>
        </p:nvSpPr>
        <p:spPr>
          <a:xfrm>
            <a:off x="838200" y="4495800"/>
            <a:ext cx="11051423" cy="830997"/>
          </a:xfrm>
          <a:prstGeom prst="rect">
            <a:avLst/>
          </a:prstGeom>
          <a:noFill/>
        </p:spPr>
        <p:txBody>
          <a:bodyPr wrap="none" rtlCol="0">
            <a:spAutoFit/>
          </a:bodyPr>
          <a:lstStyle/>
          <a:p>
            <a:r>
              <a:rPr lang="en-US" sz="1200" dirty="0"/>
              <a:t>I’ve grown interest in this project because up until now, music and sound has always fascinated me. As a trumpet player, I’ve never thought about</a:t>
            </a:r>
          </a:p>
          <a:p>
            <a:r>
              <a:rPr lang="en-US" sz="1200" dirty="0"/>
              <a:t>analyzing sound, but I found musical tuners to be pretty cool because I never knew how they worked. In my concurrent music theory for non music majors class,</a:t>
            </a:r>
          </a:p>
          <a:p>
            <a:r>
              <a:rPr lang="en-US" sz="1200" dirty="0"/>
              <a:t>We covered how a Fourier transform can be used to analyze sounds in the time domain and how they can determine the  overall pitch composition of sounds, </a:t>
            </a:r>
          </a:p>
          <a:p>
            <a:r>
              <a:rPr lang="en-US" sz="1200" dirty="0"/>
              <a:t>and so through this project, I would like to attempt to create my own sound analyzer. </a:t>
            </a:r>
          </a:p>
        </p:txBody>
      </p:sp>
      <p:pic>
        <p:nvPicPr>
          <p:cNvPr id="6" name="Picture 5" descr="Esau's Guitar Tuner&#10;&#10;AI-generated content may be incorrect.">
            <a:extLst>
              <a:ext uri="{FF2B5EF4-FFF2-40B4-BE49-F238E27FC236}">
                <a16:creationId xmlns:a16="http://schemas.microsoft.com/office/drawing/2014/main" id="{BFFD882D-F58C-5305-F0DD-B505F2B6508C}"/>
              </a:ext>
            </a:extLst>
          </p:cNvPr>
          <p:cNvPicPr>
            <a:picLocks noChangeAspect="1"/>
          </p:cNvPicPr>
          <p:nvPr/>
        </p:nvPicPr>
        <p:blipFill>
          <a:blip r:embed="rId3"/>
          <a:stretch>
            <a:fillRect/>
          </a:stretch>
        </p:blipFill>
        <p:spPr>
          <a:xfrm>
            <a:off x="4495800" y="1905000"/>
            <a:ext cx="1870651" cy="1410183"/>
          </a:xfrm>
          <a:prstGeom prst="rect">
            <a:avLst/>
          </a:prstGeom>
        </p:spPr>
      </p:pic>
    </p:spTree>
    <p:extLst>
      <p:ext uri="{BB962C8B-B14F-4D97-AF65-F5344CB8AC3E}">
        <p14:creationId xmlns:p14="http://schemas.microsoft.com/office/powerpoint/2010/main" val="3519531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B93E4-AB7E-4F3D-B6C5-4ED4B78FA4AF}"/>
              </a:ext>
            </a:extLst>
          </p:cNvPr>
          <p:cNvSpPr>
            <a:spLocks noGrp="1"/>
          </p:cNvSpPr>
          <p:nvPr>
            <p:ph type="title"/>
          </p:nvPr>
        </p:nvSpPr>
        <p:spPr/>
        <p:txBody>
          <a:bodyPr/>
          <a:lstStyle/>
          <a:p>
            <a:r>
              <a:rPr lang="en-US" dirty="0"/>
              <a:t>System Block Diagram</a:t>
            </a:r>
          </a:p>
        </p:txBody>
      </p:sp>
      <p:sp>
        <p:nvSpPr>
          <p:cNvPr id="3" name="Content Placeholder 2">
            <a:extLst>
              <a:ext uri="{FF2B5EF4-FFF2-40B4-BE49-F238E27FC236}">
                <a16:creationId xmlns:a16="http://schemas.microsoft.com/office/drawing/2014/main" id="{608935D3-29E1-4175-8DE5-14986150C19C}"/>
              </a:ext>
            </a:extLst>
          </p:cNvPr>
          <p:cNvSpPr>
            <a:spLocks noGrp="1"/>
          </p:cNvSpPr>
          <p:nvPr>
            <p:ph idx="1"/>
          </p:nvPr>
        </p:nvSpPr>
        <p:spPr/>
        <p:txBody>
          <a:bodyPr/>
          <a:lstStyle/>
          <a:p>
            <a:endParaRPr lang="en-US" dirty="0"/>
          </a:p>
        </p:txBody>
      </p:sp>
      <p:pic>
        <p:nvPicPr>
          <p:cNvPr id="2050" name="Picture 2">
            <a:extLst>
              <a:ext uri="{FF2B5EF4-FFF2-40B4-BE49-F238E27FC236}">
                <a16:creationId xmlns:a16="http://schemas.microsoft.com/office/drawing/2014/main" id="{52421F52-A4E3-34DB-D2CA-A19BC25C47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0300" y="1113692"/>
            <a:ext cx="6972300" cy="5363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782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DFEA3-93A8-4943-9F3A-4798FB13F643}"/>
              </a:ext>
            </a:extLst>
          </p:cNvPr>
          <p:cNvSpPr>
            <a:spLocks noGrp="1"/>
          </p:cNvSpPr>
          <p:nvPr>
            <p:ph type="title"/>
          </p:nvPr>
        </p:nvSpPr>
        <p:spPr/>
        <p:txBody>
          <a:bodyPr/>
          <a:lstStyle/>
          <a:p>
            <a:r>
              <a:rPr lang="en-US" dirty="0"/>
              <a:t>Power Block Diagram</a:t>
            </a:r>
          </a:p>
        </p:txBody>
      </p:sp>
      <p:sp>
        <p:nvSpPr>
          <p:cNvPr id="3" name="Content Placeholder 2">
            <a:extLst>
              <a:ext uri="{FF2B5EF4-FFF2-40B4-BE49-F238E27FC236}">
                <a16:creationId xmlns:a16="http://schemas.microsoft.com/office/drawing/2014/main" id="{39FC9173-ADDE-4A3D-BDB4-3F990F1032E5}"/>
              </a:ext>
            </a:extLst>
          </p:cNvPr>
          <p:cNvSpPr>
            <a:spLocks noGrp="1"/>
          </p:cNvSpPr>
          <p:nvPr>
            <p:ph idx="1"/>
          </p:nvPr>
        </p:nvSpPr>
        <p:spPr/>
        <p:txBody>
          <a:bodyPr/>
          <a:lstStyle/>
          <a:p>
            <a:pPr marL="0" indent="0">
              <a:buNone/>
            </a:pPr>
            <a:endParaRPr lang="en-US" dirty="0"/>
          </a:p>
        </p:txBody>
      </p:sp>
      <p:pic>
        <p:nvPicPr>
          <p:cNvPr id="1026" name="Picture 2">
            <a:extLst>
              <a:ext uri="{FF2B5EF4-FFF2-40B4-BE49-F238E27FC236}">
                <a16:creationId xmlns:a16="http://schemas.microsoft.com/office/drawing/2014/main" id="{93F62713-9614-8787-5AF9-D9C784CFF4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219200"/>
            <a:ext cx="6875732" cy="5255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4615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1467B-51C2-4E0B-B52A-83BD9F0EB83D}"/>
              </a:ext>
            </a:extLst>
          </p:cNvPr>
          <p:cNvSpPr>
            <a:spLocks noGrp="1"/>
          </p:cNvSpPr>
          <p:nvPr>
            <p:ph type="title"/>
          </p:nvPr>
        </p:nvSpPr>
        <p:spPr/>
        <p:txBody>
          <a:bodyPr/>
          <a:lstStyle/>
          <a:p>
            <a:r>
              <a:rPr lang="en-US" dirty="0"/>
              <a:t>Components / Budget</a:t>
            </a:r>
          </a:p>
        </p:txBody>
      </p:sp>
      <p:graphicFrame>
        <p:nvGraphicFramePr>
          <p:cNvPr id="4" name="Content Placeholder 3">
            <a:extLst>
              <a:ext uri="{FF2B5EF4-FFF2-40B4-BE49-F238E27FC236}">
                <a16:creationId xmlns:a16="http://schemas.microsoft.com/office/drawing/2014/main" id="{D0B47F4B-CB02-4D02-BE84-F6BC57D0FE26}"/>
              </a:ext>
            </a:extLst>
          </p:cNvPr>
          <p:cNvGraphicFramePr>
            <a:graphicFrameLocks noGrp="1"/>
          </p:cNvGraphicFramePr>
          <p:nvPr>
            <p:ph idx="1"/>
            <p:extLst>
              <p:ext uri="{D42A27DB-BD31-4B8C-83A1-F6EECF244321}">
                <p14:modId xmlns:p14="http://schemas.microsoft.com/office/powerpoint/2010/main" val="1593026672"/>
              </p:ext>
            </p:extLst>
          </p:nvPr>
        </p:nvGraphicFramePr>
        <p:xfrm>
          <a:off x="609600" y="1295400"/>
          <a:ext cx="10972800" cy="4704080"/>
        </p:xfrm>
        <a:graphic>
          <a:graphicData uri="http://schemas.openxmlformats.org/drawingml/2006/table">
            <a:tbl>
              <a:tblPr firstRow="1" bandRow="1">
                <a:tableStyleId>{BC89EF96-8CEA-46FF-86C4-4CE0E7609802}</a:tableStyleId>
              </a:tblPr>
              <a:tblGrid>
                <a:gridCol w="7837714">
                  <a:extLst>
                    <a:ext uri="{9D8B030D-6E8A-4147-A177-3AD203B41FA5}">
                      <a16:colId xmlns:a16="http://schemas.microsoft.com/office/drawing/2014/main" val="3675253430"/>
                    </a:ext>
                  </a:extLst>
                </a:gridCol>
                <a:gridCol w="1567543">
                  <a:extLst>
                    <a:ext uri="{9D8B030D-6E8A-4147-A177-3AD203B41FA5}">
                      <a16:colId xmlns:a16="http://schemas.microsoft.com/office/drawing/2014/main" val="1372058784"/>
                    </a:ext>
                  </a:extLst>
                </a:gridCol>
                <a:gridCol w="1567543">
                  <a:extLst>
                    <a:ext uri="{9D8B030D-6E8A-4147-A177-3AD203B41FA5}">
                      <a16:colId xmlns:a16="http://schemas.microsoft.com/office/drawing/2014/main" val="356583018"/>
                    </a:ext>
                  </a:extLst>
                </a:gridCol>
              </a:tblGrid>
              <a:tr h="370840">
                <a:tc>
                  <a:txBody>
                    <a:bodyPr/>
                    <a:lstStyle/>
                    <a:p>
                      <a:r>
                        <a:rPr lang="en-US" dirty="0"/>
                        <a:t>Component</a:t>
                      </a:r>
                    </a:p>
                  </a:txBody>
                  <a:tcPr/>
                </a:tc>
                <a:tc>
                  <a:txBody>
                    <a:bodyPr/>
                    <a:lstStyle/>
                    <a:p>
                      <a:pPr algn="ctr"/>
                      <a:r>
                        <a:rPr lang="en-US" dirty="0"/>
                        <a:t>EDES301</a:t>
                      </a:r>
                    </a:p>
                    <a:p>
                      <a:pPr algn="ctr"/>
                      <a:r>
                        <a:rPr lang="en-US" dirty="0"/>
                        <a:t> to Buy?</a:t>
                      </a:r>
                    </a:p>
                  </a:txBody>
                  <a:tcPr/>
                </a:tc>
                <a:tc>
                  <a:txBody>
                    <a:bodyPr/>
                    <a:lstStyle/>
                    <a:p>
                      <a:pPr algn="ctr"/>
                      <a:r>
                        <a:rPr lang="en-US" dirty="0"/>
                        <a:t>Cost</a:t>
                      </a:r>
                    </a:p>
                  </a:txBody>
                  <a:tcPr/>
                </a:tc>
                <a:extLst>
                  <a:ext uri="{0D108BD9-81ED-4DB2-BD59-A6C34878D82A}">
                    <a16:rowId xmlns:a16="http://schemas.microsoft.com/office/drawing/2014/main" val="1606800787"/>
                  </a:ext>
                </a:extLst>
              </a:tr>
              <a:tr h="370840">
                <a:tc>
                  <a:txBody>
                    <a:bodyPr/>
                    <a:lstStyle/>
                    <a:p>
                      <a:pPr algn="l" fontAlgn="t">
                        <a:lnSpc>
                          <a:spcPts val="1200"/>
                        </a:lnSpc>
                        <a:buNone/>
                      </a:pPr>
                      <a:br>
                        <a:rPr lang="en-US" b="0" dirty="0">
                          <a:solidFill>
                            <a:srgbClr val="444444"/>
                          </a:solidFill>
                          <a:effectLst/>
                          <a:latin typeface="Roboto" panose="02000000000000000000" pitchFamily="2" charset="0"/>
                        </a:rPr>
                      </a:br>
                      <a:r>
                        <a:rPr lang="en-US" b="0" dirty="0">
                          <a:solidFill>
                            <a:srgbClr val="444444"/>
                          </a:solidFill>
                          <a:effectLst/>
                          <a:latin typeface="Roboto" panose="02000000000000000000" pitchFamily="2" charset="0"/>
                        </a:rPr>
                        <a:t>SPH0645LM4H </a:t>
                      </a:r>
                      <a:r>
                        <a:rPr lang="en-US" b="0" dirty="0" err="1">
                          <a:solidFill>
                            <a:srgbClr val="444444"/>
                          </a:solidFill>
                          <a:effectLst/>
                          <a:latin typeface="Roboto" panose="02000000000000000000" pitchFamily="2" charset="0"/>
                        </a:rPr>
                        <a:t>SiSonic</a:t>
                      </a:r>
                      <a:r>
                        <a:rPr lang="en-US" b="0" dirty="0">
                          <a:solidFill>
                            <a:srgbClr val="444444"/>
                          </a:solidFill>
                          <a:effectLst/>
                          <a:latin typeface="Roboto" panose="02000000000000000000" pitchFamily="2" charset="0"/>
                        </a:rPr>
                        <a:t>™ MEMS Omnidirectional Microphones Audio</a:t>
                      </a:r>
                    </a:p>
                    <a:p>
                      <a:pPr algn="l" fontAlgn="t">
                        <a:lnSpc>
                          <a:spcPts val="1200"/>
                        </a:lnSpc>
                        <a:buNone/>
                      </a:pPr>
                      <a:endParaRPr lang="en-US" b="0" dirty="0">
                        <a:solidFill>
                          <a:srgbClr val="444444"/>
                        </a:solidFill>
                        <a:effectLst/>
                        <a:latin typeface="Roboto" panose="02000000000000000000" pitchFamily="2" charset="0"/>
                      </a:endParaRPr>
                    </a:p>
                    <a:p>
                      <a:pPr algn="l" fontAlgn="t">
                        <a:lnSpc>
                          <a:spcPts val="1200"/>
                        </a:lnSpc>
                        <a:buNone/>
                      </a:pPr>
                      <a:r>
                        <a:rPr lang="en-US" b="0" dirty="0">
                          <a:solidFill>
                            <a:srgbClr val="444444"/>
                          </a:solidFill>
                          <a:effectLst/>
                          <a:latin typeface="Roboto" panose="02000000000000000000" pitchFamily="2" charset="0"/>
                        </a:rPr>
                        <a:t> Evaluation Board - </a:t>
                      </a:r>
                      <a:r>
                        <a:rPr lang="en-US" dirty="0">
                          <a:hlinkClick r:id="rId2"/>
                        </a:rPr>
                        <a:t>3421 Adafruit Industries LLC | Development Boards, Kits,</a:t>
                      </a:r>
                    </a:p>
                    <a:p>
                      <a:pPr algn="l" fontAlgn="t">
                        <a:lnSpc>
                          <a:spcPts val="1200"/>
                        </a:lnSpc>
                        <a:buNone/>
                      </a:pPr>
                      <a:endParaRPr lang="en-US" dirty="0">
                        <a:hlinkClick r:id="rId2"/>
                      </a:endParaRPr>
                    </a:p>
                    <a:p>
                      <a:pPr algn="l" fontAlgn="t">
                        <a:lnSpc>
                          <a:spcPts val="1200"/>
                        </a:lnSpc>
                        <a:buNone/>
                      </a:pPr>
                      <a:r>
                        <a:rPr lang="en-US" dirty="0">
                          <a:hlinkClick r:id="rId2"/>
                        </a:rPr>
                        <a:t> Programmers | </a:t>
                      </a:r>
                      <a:r>
                        <a:rPr lang="en-US" dirty="0" err="1">
                          <a:hlinkClick r:id="rId2"/>
                        </a:rPr>
                        <a:t>DigiKey</a:t>
                      </a:r>
                      <a:endParaRPr lang="en-US" dirty="0"/>
                    </a:p>
                  </a:txBody>
                  <a:tcPr marL="38100" marR="38100" marT="38100" marB="38100"/>
                </a:tc>
                <a:tc>
                  <a:txBody>
                    <a:bodyPr/>
                    <a:lstStyle/>
                    <a:p>
                      <a:r>
                        <a:rPr lang="en-US" dirty="0"/>
                        <a:t>Yes</a:t>
                      </a:r>
                    </a:p>
                  </a:txBody>
                  <a:tcPr/>
                </a:tc>
                <a:tc>
                  <a:txBody>
                    <a:bodyPr/>
                    <a:lstStyle/>
                    <a:p>
                      <a:r>
                        <a:rPr lang="en-US" dirty="0"/>
                        <a:t>$15.09 (include </a:t>
                      </a:r>
                      <a:r>
                        <a:rPr lang="en-US" dirty="0" err="1"/>
                        <a:t>shiping</a:t>
                      </a:r>
                      <a:r>
                        <a:rPr lang="en-US" dirty="0"/>
                        <a:t> +tax)</a:t>
                      </a:r>
                    </a:p>
                  </a:txBody>
                  <a:tcPr/>
                </a:tc>
                <a:extLst>
                  <a:ext uri="{0D108BD9-81ED-4DB2-BD59-A6C34878D82A}">
                    <a16:rowId xmlns:a16="http://schemas.microsoft.com/office/drawing/2014/main" val="33313506"/>
                  </a:ext>
                </a:extLst>
              </a:tr>
              <a:tr h="370840">
                <a:tc>
                  <a:txBody>
                    <a:bodyPr/>
                    <a:lstStyle/>
                    <a:p>
                      <a:r>
                        <a:rPr lang="en-US" dirty="0"/>
                        <a:t>Character Display (16x2) white on blue (from parts list) </a:t>
                      </a:r>
                      <a:r>
                        <a:rPr lang="en-US" dirty="0">
                          <a:hlinkClick r:id="rId3"/>
                        </a:rPr>
                        <a:t>Standard LCD 16x2 + extras [white on blue] : Adafruit Industries, Unique &amp; fun DIY electronics and kits</a:t>
                      </a:r>
                      <a:endParaRPr lang="en-US" dirty="0"/>
                    </a:p>
                  </a:txBody>
                  <a:tcPr/>
                </a:tc>
                <a:tc>
                  <a:txBody>
                    <a:bodyPr/>
                    <a:lstStyle/>
                    <a:p>
                      <a:r>
                        <a:rPr lang="en-US" dirty="0"/>
                        <a:t>Yes</a:t>
                      </a:r>
                    </a:p>
                  </a:txBody>
                  <a:tcPr/>
                </a:tc>
                <a:tc>
                  <a:txBody>
                    <a:bodyPr/>
                    <a:lstStyle/>
                    <a:p>
                      <a:r>
                        <a:rPr lang="en-US" dirty="0"/>
                        <a:t>$17.52</a:t>
                      </a:r>
                    </a:p>
                    <a:p>
                      <a:r>
                        <a:rPr lang="en-US" dirty="0"/>
                        <a:t>(cheapest shipping + tax)</a:t>
                      </a:r>
                    </a:p>
                  </a:txBody>
                  <a:tcPr/>
                </a:tc>
                <a:extLst>
                  <a:ext uri="{0D108BD9-81ED-4DB2-BD59-A6C34878D82A}">
                    <a16:rowId xmlns:a16="http://schemas.microsoft.com/office/drawing/2014/main" val="2595126612"/>
                  </a:ext>
                </a:extLst>
              </a:tr>
              <a:tr h="37084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757493575"/>
                  </a:ext>
                </a:extLst>
              </a:tr>
              <a:tr h="37084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862840897"/>
                  </a:ext>
                </a:extLst>
              </a:tr>
              <a:tr h="37084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698356184"/>
                  </a:ext>
                </a:extLst>
              </a:tr>
              <a:tr h="37084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364489299"/>
                  </a:ext>
                </a:extLst>
              </a:tr>
              <a:tr h="37084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337708406"/>
                  </a:ext>
                </a:extLst>
              </a:tr>
            </a:tbl>
          </a:graphicData>
        </a:graphic>
      </p:graphicFrame>
    </p:spTree>
    <p:extLst>
      <p:ext uri="{BB962C8B-B14F-4D97-AF65-F5344CB8AC3E}">
        <p14:creationId xmlns:p14="http://schemas.microsoft.com/office/powerpoint/2010/main" val="1131248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Diamond Grid 16x9">
  <a:themeElements>
    <a:clrScheme name="Custom 3">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000000"/>
      </a:hlink>
      <a:folHlink>
        <a:srgbClr val="9F6715"/>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siness diamond grid presentation (widescreen).potx" id="{B2221865-AD13-4DF0-B68E-BF08E8CC5659}" vid="{BAA0C488-98B6-4F47-8E1C-5C7CD9605F73}"/>
    </a:ext>
  </a:extLst>
</a:theme>
</file>

<file path=ppt/theme/theme2.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Business diamond grid presentation (widescreen)</Template>
  <TotalTime>11196</TotalTime>
  <Words>317</Words>
  <Application>Microsoft Office PowerPoint</Application>
  <PresentationFormat>Widescreen</PresentationFormat>
  <Paragraphs>30</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Roboto</vt:lpstr>
      <vt:lpstr>Diamond Grid 16x9</vt:lpstr>
      <vt:lpstr>EDES 301  &lt;Epic Audio Analyzer&gt; Proposal</vt:lpstr>
      <vt:lpstr>Background Information</vt:lpstr>
      <vt:lpstr>System Block Diagram</vt:lpstr>
      <vt:lpstr>Power Block Diagram</vt:lpstr>
      <vt:lpstr>Components / Budget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Erik Welsh</dc:creator>
  <cp:lastModifiedBy>Nicholas Melendez</cp:lastModifiedBy>
  <cp:revision>414</cp:revision>
  <dcterms:created xsi:type="dcterms:W3CDTF">2018-01-09T20:24:50Z</dcterms:created>
  <dcterms:modified xsi:type="dcterms:W3CDTF">2026-02-25T23:43:19Z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